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1" r:id="rId2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4630400" cy="8229600"/>
  <p:notesSz cx="8229600" cy="14630400"/>
  <p:embeddedFontLst>
    <p:embeddedFont>
      <p:font typeface="Inter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8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9933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6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6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37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914377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914377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hf sldNum="0" hdr="0" ftr="0" dt="0"/>
  <p:txStyles>
    <p:titleStyle>
      <a:lvl1pPr algn="ctr" defTabSz="91437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914377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914377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1" y="2528531"/>
            <a:ext cx="75564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851"/>
              </a:lnSpc>
            </a:pPr>
            <a:r>
              <a:rPr lang="en-US" sz="4651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Advanced Drone Building using Orange Pi 5</a:t>
            </a:r>
            <a:endParaRPr lang="en-US" sz="4651" dirty="0"/>
          </a:p>
        </p:txBody>
      </p:sp>
      <p:sp>
        <p:nvSpPr>
          <p:cNvPr id="4" name="Text 1"/>
          <p:cNvSpPr/>
          <p:nvPr/>
        </p:nvSpPr>
        <p:spPr>
          <a:xfrm>
            <a:off x="793791" y="435721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1"/>
              </a:lnSpc>
            </a:pPr>
            <a:r>
              <a:rPr lang="en-US" sz="175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Members: Sanjay Kathula, Sai Kumar Gadde</a:t>
            </a:r>
            <a:endParaRPr lang="en-US" sz="1751" dirty="0"/>
          </a:p>
        </p:txBody>
      </p:sp>
      <p:sp>
        <p:nvSpPr>
          <p:cNvPr id="5" name="Text 2"/>
          <p:cNvSpPr/>
          <p:nvPr/>
        </p:nvSpPr>
        <p:spPr>
          <a:xfrm>
            <a:off x="793791" y="4975266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1"/>
              </a:lnSpc>
            </a:pPr>
            <a:r>
              <a:rPr lang="en-US" sz="175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Integrating AI and sensor tech on embedded platforms for advanced drone features.</a:t>
            </a:r>
            <a:endParaRPr lang="en-US" sz="175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0099" y="613767"/>
            <a:ext cx="5851208" cy="731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751"/>
              </a:lnSpc>
            </a:pPr>
            <a:r>
              <a:rPr lang="en-US" sz="46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Project Goals</a:t>
            </a:r>
            <a:endParaRPr lang="en-US" sz="4600" dirty="0"/>
          </a:p>
        </p:txBody>
      </p:sp>
      <p:sp>
        <p:nvSpPr>
          <p:cNvPr id="4" name="Shape 1"/>
          <p:cNvSpPr/>
          <p:nvPr/>
        </p:nvSpPr>
        <p:spPr>
          <a:xfrm>
            <a:off x="780099" y="1679378"/>
            <a:ext cx="7583805" cy="1316951"/>
          </a:xfrm>
          <a:prstGeom prst="roundRect">
            <a:avLst>
              <a:gd name="adj" fmla="val 7109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010603" y="1909884"/>
            <a:ext cx="2925604" cy="365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1"/>
              </a:lnSpc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Follow-Me Feature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010604" y="2409231"/>
            <a:ext cx="7122795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75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target tracking using AI vision models</a:t>
            </a:r>
            <a:endParaRPr lang="en-US" sz="1751" dirty="0"/>
          </a:p>
        </p:txBody>
      </p:sp>
      <p:sp>
        <p:nvSpPr>
          <p:cNvPr id="7" name="Shape 4"/>
          <p:cNvSpPr/>
          <p:nvPr/>
        </p:nvSpPr>
        <p:spPr>
          <a:xfrm>
            <a:off x="780099" y="3219213"/>
            <a:ext cx="7583805" cy="1316951"/>
          </a:xfrm>
          <a:prstGeom prst="roundRect">
            <a:avLst>
              <a:gd name="adj" fmla="val 7109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010603" y="3449718"/>
            <a:ext cx="2925604" cy="365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1"/>
              </a:lnSpc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Obstacle Avoidance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1010604" y="3949065"/>
            <a:ext cx="7122795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75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 LiDAR-based proximity sensing</a:t>
            </a:r>
            <a:endParaRPr lang="en-US" sz="1751" dirty="0"/>
          </a:p>
        </p:txBody>
      </p:sp>
      <p:sp>
        <p:nvSpPr>
          <p:cNvPr id="10" name="Shape 7"/>
          <p:cNvSpPr/>
          <p:nvPr/>
        </p:nvSpPr>
        <p:spPr>
          <a:xfrm>
            <a:off x="780099" y="4759047"/>
            <a:ext cx="7583805" cy="1316951"/>
          </a:xfrm>
          <a:prstGeom prst="roundRect">
            <a:avLst>
              <a:gd name="adj" fmla="val 7109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010603" y="4989553"/>
            <a:ext cx="2925604" cy="365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1"/>
              </a:lnSpc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Gesture Control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1010604" y="5488900"/>
            <a:ext cx="7122795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75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 gesture recognition for drone commands</a:t>
            </a:r>
            <a:endParaRPr lang="en-US" sz="1751" dirty="0"/>
          </a:p>
        </p:txBody>
      </p:sp>
      <p:sp>
        <p:nvSpPr>
          <p:cNvPr id="13" name="Shape 10"/>
          <p:cNvSpPr/>
          <p:nvPr/>
        </p:nvSpPr>
        <p:spPr>
          <a:xfrm>
            <a:off x="780099" y="6298882"/>
            <a:ext cx="7583805" cy="1316951"/>
          </a:xfrm>
          <a:prstGeom prst="roundRect">
            <a:avLst>
              <a:gd name="adj" fmla="val 7109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10605" y="6529389"/>
            <a:ext cx="3494961" cy="365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1"/>
              </a:lnSpc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Embedded AI Deployment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1010604" y="7028736"/>
            <a:ext cx="7122795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75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Efficient model inference on Orange Pi 5</a:t>
            </a:r>
            <a:endParaRPr lang="en-US" sz="175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1" y="2310409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851"/>
              </a:lnSpc>
            </a:pPr>
            <a:r>
              <a:rPr lang="en-US" sz="4651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Project Outcomes</a:t>
            </a:r>
            <a:endParaRPr lang="en-US" sz="4651" dirty="0"/>
          </a:p>
        </p:txBody>
      </p:sp>
      <p:sp>
        <p:nvSpPr>
          <p:cNvPr id="3" name="Text 1"/>
          <p:cNvSpPr/>
          <p:nvPr/>
        </p:nvSpPr>
        <p:spPr>
          <a:xfrm>
            <a:off x="793789" y="3621643"/>
            <a:ext cx="2845595" cy="372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US" sz="2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Hardware Setup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89" y="4220529"/>
            <a:ext cx="28455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1"/>
              </a:lnSpc>
            </a:pPr>
            <a:r>
              <a:rPr lang="en-US" sz="175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Orange Pi 5, Pixhawk 6X, TFMini Plus LiDAR, and reCamera</a:t>
            </a:r>
            <a:endParaRPr lang="en-US" sz="1751" dirty="0"/>
          </a:p>
        </p:txBody>
      </p:sp>
      <p:sp>
        <p:nvSpPr>
          <p:cNvPr id="5" name="Text 3"/>
          <p:cNvSpPr/>
          <p:nvPr/>
        </p:nvSpPr>
        <p:spPr>
          <a:xfrm>
            <a:off x="4200405" y="3621644"/>
            <a:ext cx="2845595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US" sz="2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Feature Implementation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4200405" y="4592599"/>
            <a:ext cx="28455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891" indent="-342891">
              <a:lnSpc>
                <a:spcPts val="2851"/>
              </a:lnSpc>
              <a:buSzPct val="100000"/>
              <a:buChar char="•"/>
            </a:pPr>
            <a:r>
              <a:rPr lang="en-US" sz="175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Follow-Me</a:t>
            </a:r>
            <a:endParaRPr lang="en-US" sz="1751" dirty="0"/>
          </a:p>
        </p:txBody>
      </p:sp>
      <p:sp>
        <p:nvSpPr>
          <p:cNvPr id="7" name="Text 5"/>
          <p:cNvSpPr/>
          <p:nvPr/>
        </p:nvSpPr>
        <p:spPr>
          <a:xfrm>
            <a:off x="4200405" y="5034798"/>
            <a:ext cx="28455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891" indent="-342891">
              <a:lnSpc>
                <a:spcPts val="2851"/>
              </a:lnSpc>
              <a:buSzPct val="100000"/>
              <a:buChar char="•"/>
            </a:pPr>
            <a:r>
              <a:rPr lang="en-US" sz="175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Obstacle Avoidance</a:t>
            </a:r>
            <a:endParaRPr lang="en-US" sz="1751" dirty="0"/>
          </a:p>
        </p:txBody>
      </p:sp>
      <p:sp>
        <p:nvSpPr>
          <p:cNvPr id="8" name="Text 6"/>
          <p:cNvSpPr/>
          <p:nvPr/>
        </p:nvSpPr>
        <p:spPr>
          <a:xfrm>
            <a:off x="4200405" y="5476995"/>
            <a:ext cx="28455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891" indent="-342891">
              <a:lnSpc>
                <a:spcPts val="2851"/>
              </a:lnSpc>
              <a:buSzPct val="100000"/>
              <a:buChar char="•"/>
            </a:pPr>
            <a:r>
              <a:rPr lang="en-US" sz="175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Gesture Control</a:t>
            </a:r>
            <a:endParaRPr lang="en-US" sz="1751" dirty="0"/>
          </a:p>
        </p:txBody>
      </p:sp>
      <p:sp>
        <p:nvSpPr>
          <p:cNvPr id="9" name="Text 7"/>
          <p:cNvSpPr/>
          <p:nvPr/>
        </p:nvSpPr>
        <p:spPr>
          <a:xfrm>
            <a:off x="7607021" y="3621643"/>
            <a:ext cx="2845595" cy="372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US" sz="2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Communication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607021" y="4220528"/>
            <a:ext cx="28455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1"/>
              </a:lnSpc>
            </a:pPr>
            <a:r>
              <a:rPr lang="en-US" sz="175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MAVLink protocol for real-time data exchange</a:t>
            </a:r>
            <a:endParaRPr lang="en-US" sz="1751" dirty="0"/>
          </a:p>
        </p:txBody>
      </p:sp>
      <p:sp>
        <p:nvSpPr>
          <p:cNvPr id="11" name="Text 9"/>
          <p:cNvSpPr/>
          <p:nvPr/>
        </p:nvSpPr>
        <p:spPr>
          <a:xfrm>
            <a:off x="11013637" y="3621643"/>
            <a:ext cx="2845595" cy="372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US" sz="2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Experience Gained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1013637" y="4220528"/>
            <a:ext cx="28455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1"/>
              </a:lnSpc>
            </a:pPr>
            <a:r>
              <a:rPr lang="en-US" sz="175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Embedded AI and sensor integration knowledge</a:t>
            </a:r>
            <a:endParaRPr lang="en-US" sz="175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0220" y="621985"/>
            <a:ext cx="6993017" cy="740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800"/>
              </a:lnSpc>
            </a:pPr>
            <a:r>
              <a:rPr lang="en-US" sz="4651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Project Accomplishments</a:t>
            </a:r>
            <a:endParaRPr lang="en-US" sz="4651" dirty="0"/>
          </a:p>
        </p:txBody>
      </p:sp>
      <p:sp>
        <p:nvSpPr>
          <p:cNvPr id="4" name="Shape 1"/>
          <p:cNvSpPr/>
          <p:nvPr/>
        </p:nvSpPr>
        <p:spPr>
          <a:xfrm>
            <a:off x="790220" y="1701405"/>
            <a:ext cx="507921" cy="507921"/>
          </a:xfrm>
          <a:prstGeom prst="roundRect">
            <a:avLst>
              <a:gd name="adj" fmla="val 18670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523882" y="1778913"/>
            <a:ext cx="2907031" cy="370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Software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523882" y="2284692"/>
            <a:ext cx="2907031" cy="722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891" indent="-342891">
              <a:lnSpc>
                <a:spcPts val="2800"/>
              </a:lnSpc>
              <a:buSzPct val="100000"/>
              <a:buChar char="•"/>
            </a:pPr>
            <a:r>
              <a:rPr lang="en-US" sz="175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OpenCV for video processing</a:t>
            </a:r>
            <a:endParaRPr lang="en-US" sz="1751" dirty="0"/>
          </a:p>
        </p:txBody>
      </p:sp>
      <p:sp>
        <p:nvSpPr>
          <p:cNvPr id="7" name="Text 4"/>
          <p:cNvSpPr/>
          <p:nvPr/>
        </p:nvSpPr>
        <p:spPr>
          <a:xfrm>
            <a:off x="1523882" y="3085864"/>
            <a:ext cx="2907031" cy="722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891" indent="-342891">
              <a:lnSpc>
                <a:spcPts val="2800"/>
              </a:lnSpc>
              <a:buSzPct val="100000"/>
              <a:buChar char="•"/>
            </a:pPr>
            <a:r>
              <a:rPr lang="en-US" sz="175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pyserial based LiDAR data reading</a:t>
            </a:r>
            <a:endParaRPr lang="en-US" sz="1751" dirty="0"/>
          </a:p>
        </p:txBody>
      </p:sp>
      <p:sp>
        <p:nvSpPr>
          <p:cNvPr id="8" name="Text 5"/>
          <p:cNvSpPr/>
          <p:nvPr/>
        </p:nvSpPr>
        <p:spPr>
          <a:xfrm>
            <a:off x="1523882" y="3887034"/>
            <a:ext cx="2907031" cy="722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891" indent="-342891">
              <a:lnSpc>
                <a:spcPts val="2800"/>
              </a:lnSpc>
              <a:buSzPct val="100000"/>
              <a:buChar char="•"/>
            </a:pPr>
            <a:r>
              <a:rPr lang="en-US" sz="175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pymavlink for MAVLink commands</a:t>
            </a:r>
            <a:endParaRPr lang="en-US" sz="1751" dirty="0"/>
          </a:p>
        </p:txBody>
      </p:sp>
      <p:sp>
        <p:nvSpPr>
          <p:cNvPr id="9" name="Text 6"/>
          <p:cNvSpPr/>
          <p:nvPr/>
        </p:nvSpPr>
        <p:spPr>
          <a:xfrm>
            <a:off x="1523882" y="4688206"/>
            <a:ext cx="2907031" cy="722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891" indent="-342891">
              <a:lnSpc>
                <a:spcPts val="2800"/>
              </a:lnSpc>
              <a:buSzPct val="100000"/>
              <a:buChar char="•"/>
            </a:pPr>
            <a:r>
              <a:rPr lang="en-US" sz="175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TensorFlow Lite gesture detection</a:t>
            </a:r>
            <a:endParaRPr lang="en-US" sz="1751" dirty="0"/>
          </a:p>
        </p:txBody>
      </p:sp>
      <p:sp>
        <p:nvSpPr>
          <p:cNvPr id="10" name="Text 7"/>
          <p:cNvSpPr/>
          <p:nvPr/>
        </p:nvSpPr>
        <p:spPr>
          <a:xfrm>
            <a:off x="1523882" y="5489378"/>
            <a:ext cx="2907031" cy="722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891" indent="-342891">
              <a:lnSpc>
                <a:spcPts val="2800"/>
              </a:lnSpc>
              <a:buSzPct val="100000"/>
              <a:buChar char="•"/>
            </a:pPr>
            <a:r>
              <a:rPr lang="en-US" sz="175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 control module design</a:t>
            </a:r>
            <a:endParaRPr lang="en-US" sz="1751" dirty="0"/>
          </a:p>
        </p:txBody>
      </p:sp>
      <p:sp>
        <p:nvSpPr>
          <p:cNvPr id="11" name="Shape 8"/>
          <p:cNvSpPr/>
          <p:nvPr/>
        </p:nvSpPr>
        <p:spPr>
          <a:xfrm>
            <a:off x="4713090" y="1701405"/>
            <a:ext cx="507921" cy="507921"/>
          </a:xfrm>
          <a:prstGeom prst="roundRect">
            <a:avLst>
              <a:gd name="adj" fmla="val 18670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446753" y="1778913"/>
            <a:ext cx="2907031" cy="370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Devices Interfaced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5446753" y="2284692"/>
            <a:ext cx="2907031" cy="722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891" indent="-342891">
              <a:lnSpc>
                <a:spcPts val="2800"/>
              </a:lnSpc>
              <a:buSzPct val="100000"/>
              <a:buChar char="•"/>
            </a:pPr>
            <a:r>
              <a:rPr lang="en-US" sz="175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reCamera USB/MIPI CSI</a:t>
            </a:r>
            <a:endParaRPr lang="en-US" sz="1751" dirty="0"/>
          </a:p>
        </p:txBody>
      </p:sp>
      <p:sp>
        <p:nvSpPr>
          <p:cNvPr id="14" name="Text 11"/>
          <p:cNvSpPr/>
          <p:nvPr/>
        </p:nvSpPr>
        <p:spPr>
          <a:xfrm>
            <a:off x="5446753" y="3085864"/>
            <a:ext cx="2907031" cy="722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891" indent="-342891">
              <a:lnSpc>
                <a:spcPts val="2800"/>
              </a:lnSpc>
              <a:buSzPct val="100000"/>
              <a:buChar char="•"/>
            </a:pPr>
            <a:r>
              <a:rPr lang="en-US" sz="175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TFMini Plus LiDAR UART</a:t>
            </a:r>
            <a:endParaRPr lang="en-US" sz="1751" dirty="0"/>
          </a:p>
        </p:txBody>
      </p:sp>
      <p:sp>
        <p:nvSpPr>
          <p:cNvPr id="15" name="Text 12"/>
          <p:cNvSpPr/>
          <p:nvPr/>
        </p:nvSpPr>
        <p:spPr>
          <a:xfrm>
            <a:off x="5446753" y="3887034"/>
            <a:ext cx="2907031" cy="722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891" indent="-342891">
              <a:lnSpc>
                <a:spcPts val="2800"/>
              </a:lnSpc>
              <a:buSzPct val="100000"/>
              <a:buChar char="•"/>
            </a:pPr>
            <a:r>
              <a:rPr lang="en-US" sz="175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Pixhawk 6X UART MAVLink</a:t>
            </a:r>
            <a:endParaRPr lang="en-US" sz="1751" dirty="0"/>
          </a:p>
        </p:txBody>
      </p:sp>
      <p:sp>
        <p:nvSpPr>
          <p:cNvPr id="16" name="Text 13"/>
          <p:cNvSpPr/>
          <p:nvPr/>
        </p:nvSpPr>
        <p:spPr>
          <a:xfrm>
            <a:off x="5446753" y="4688206"/>
            <a:ext cx="2907031" cy="722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891" indent="-342891">
              <a:lnSpc>
                <a:spcPts val="2800"/>
              </a:lnSpc>
              <a:buSzPct val="100000"/>
              <a:buChar char="•"/>
            </a:pPr>
            <a:r>
              <a:rPr lang="en-US" sz="175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ReSpeaker Mic Array (concept)</a:t>
            </a:r>
            <a:endParaRPr lang="en-US" sz="1751" dirty="0"/>
          </a:p>
        </p:txBody>
      </p:sp>
      <p:sp>
        <p:nvSpPr>
          <p:cNvPr id="17" name="Shape 14"/>
          <p:cNvSpPr/>
          <p:nvPr/>
        </p:nvSpPr>
        <p:spPr>
          <a:xfrm>
            <a:off x="790220" y="6663097"/>
            <a:ext cx="507921" cy="507921"/>
          </a:xfrm>
          <a:prstGeom prst="roundRect">
            <a:avLst>
              <a:gd name="adj" fmla="val 18670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523881" y="6740605"/>
            <a:ext cx="2963347" cy="370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Platform</a:t>
            </a:r>
            <a:endParaRPr lang="en-US" sz="2300" dirty="0"/>
          </a:p>
        </p:txBody>
      </p:sp>
      <p:sp>
        <p:nvSpPr>
          <p:cNvPr id="19" name="Text 16"/>
          <p:cNvSpPr/>
          <p:nvPr/>
        </p:nvSpPr>
        <p:spPr>
          <a:xfrm>
            <a:off x="1523882" y="7246383"/>
            <a:ext cx="6829901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75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Orange Pi 5 on Ubuntu, AI with TensorFlow Lite</a:t>
            </a:r>
            <a:endParaRPr lang="en-US" sz="175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1" y="2496383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851"/>
              </a:lnSpc>
            </a:pPr>
            <a:r>
              <a:rPr lang="en-US" sz="4651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Our Contributions</a:t>
            </a:r>
            <a:endParaRPr lang="en-US" sz="4651" dirty="0"/>
          </a:p>
        </p:txBody>
      </p:sp>
      <p:sp>
        <p:nvSpPr>
          <p:cNvPr id="3" name="Text 1"/>
          <p:cNvSpPr/>
          <p:nvPr/>
        </p:nvSpPr>
        <p:spPr>
          <a:xfrm>
            <a:off x="793791" y="3807619"/>
            <a:ext cx="2977039" cy="372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US" sz="2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Sai Kumar Gadde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1" y="440650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891" indent="-342891">
              <a:lnSpc>
                <a:spcPts val="2851"/>
              </a:lnSpc>
              <a:buSzPct val="100000"/>
              <a:buChar char="•"/>
            </a:pPr>
            <a:r>
              <a:rPr lang="en-US" sz="175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integration and sensor processing</a:t>
            </a:r>
            <a:endParaRPr lang="en-US" sz="1751" dirty="0"/>
          </a:p>
        </p:txBody>
      </p:sp>
      <p:sp>
        <p:nvSpPr>
          <p:cNvPr id="5" name="Text 3"/>
          <p:cNvSpPr/>
          <p:nvPr/>
        </p:nvSpPr>
        <p:spPr>
          <a:xfrm>
            <a:off x="793791" y="484870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891" indent="-342891">
              <a:lnSpc>
                <a:spcPts val="2851"/>
              </a:lnSpc>
              <a:buSzPct val="100000"/>
              <a:buChar char="•"/>
            </a:pPr>
            <a:r>
              <a:rPr lang="en-US" sz="175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Camera and LiDAR data scripts</a:t>
            </a:r>
            <a:endParaRPr lang="en-US" sz="1751" dirty="0"/>
          </a:p>
        </p:txBody>
      </p:sp>
      <p:sp>
        <p:nvSpPr>
          <p:cNvPr id="6" name="Text 4"/>
          <p:cNvSpPr/>
          <p:nvPr/>
        </p:nvSpPr>
        <p:spPr>
          <a:xfrm>
            <a:off x="793791" y="529090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891" indent="-342891">
              <a:lnSpc>
                <a:spcPts val="2851"/>
              </a:lnSpc>
              <a:buSzPct val="100000"/>
              <a:buChar char="•"/>
            </a:pPr>
            <a:r>
              <a:rPr lang="en-US" sz="175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Gesture recognition model development</a:t>
            </a:r>
            <a:endParaRPr lang="en-US" sz="1751" dirty="0"/>
          </a:p>
        </p:txBody>
      </p:sp>
      <p:sp>
        <p:nvSpPr>
          <p:cNvPr id="7" name="Text 5"/>
          <p:cNvSpPr/>
          <p:nvPr/>
        </p:nvSpPr>
        <p:spPr>
          <a:xfrm>
            <a:off x="7599522" y="3807619"/>
            <a:ext cx="2977039" cy="372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US" sz="2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Sanjay Kathula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599522" y="440650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891" indent="-342891">
              <a:lnSpc>
                <a:spcPts val="2851"/>
              </a:lnSpc>
              <a:buSzPct val="100000"/>
              <a:buChar char="•"/>
            </a:pPr>
            <a:r>
              <a:rPr lang="en-US" sz="175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Pixhawk integration and MAVLink control</a:t>
            </a:r>
            <a:endParaRPr lang="en-US" sz="1751" dirty="0"/>
          </a:p>
        </p:txBody>
      </p:sp>
      <p:sp>
        <p:nvSpPr>
          <p:cNvPr id="9" name="Text 7"/>
          <p:cNvSpPr/>
          <p:nvPr/>
        </p:nvSpPr>
        <p:spPr>
          <a:xfrm>
            <a:off x="7599522" y="484870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891" indent="-342891">
              <a:lnSpc>
                <a:spcPts val="2851"/>
              </a:lnSpc>
              <a:buSzPct val="100000"/>
              <a:buChar char="•"/>
            </a:pPr>
            <a:r>
              <a:rPr lang="en-US" sz="175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Hardware setup and power management</a:t>
            </a:r>
            <a:endParaRPr lang="en-US" sz="1751" dirty="0"/>
          </a:p>
        </p:txBody>
      </p:sp>
      <p:sp>
        <p:nvSpPr>
          <p:cNvPr id="10" name="Text 8"/>
          <p:cNvSpPr/>
          <p:nvPr/>
        </p:nvSpPr>
        <p:spPr>
          <a:xfrm>
            <a:off x="7599522" y="529090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891" indent="-342891">
              <a:lnSpc>
                <a:spcPts val="2851"/>
              </a:lnSpc>
              <a:buSzPct val="100000"/>
              <a:buChar char="•"/>
            </a:pPr>
            <a:r>
              <a:rPr lang="en-US" sz="175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integration and real-world tests</a:t>
            </a:r>
            <a:endParaRPr lang="en-US" sz="175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1" y="1070254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851"/>
              </a:lnSpc>
            </a:pPr>
            <a:r>
              <a:rPr lang="en-US" sz="4651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Software and Testing</a:t>
            </a:r>
            <a:endParaRPr lang="en-US" sz="4651" dirty="0"/>
          </a:p>
        </p:txBody>
      </p:sp>
      <p:sp>
        <p:nvSpPr>
          <p:cNvPr id="4" name="Shape 1"/>
          <p:cNvSpPr/>
          <p:nvPr/>
        </p:nvSpPr>
        <p:spPr>
          <a:xfrm>
            <a:off x="6280190" y="2154674"/>
            <a:ext cx="510303" cy="510303"/>
          </a:xfrm>
          <a:prstGeom prst="roundRect">
            <a:avLst>
              <a:gd name="adj" fmla="val 18669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356747" y="2186583"/>
            <a:ext cx="357188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800"/>
              </a:lnSpc>
            </a:pPr>
            <a:r>
              <a:rPr lang="en-US" sz="28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7017307" y="2232542"/>
            <a:ext cx="2977039" cy="372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Software Modules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7017308" y="2740702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891" indent="-342891">
              <a:lnSpc>
                <a:spcPts val="2851"/>
              </a:lnSpc>
              <a:buSzPct val="100000"/>
              <a:buChar char="•"/>
            </a:pPr>
            <a:r>
              <a:rPr lang="en-US" sz="175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Camera capture and OpenCV processing</a:t>
            </a:r>
            <a:endParaRPr lang="en-US" sz="1751" dirty="0"/>
          </a:p>
        </p:txBody>
      </p:sp>
      <p:sp>
        <p:nvSpPr>
          <p:cNvPr id="8" name="Text 5"/>
          <p:cNvSpPr/>
          <p:nvPr/>
        </p:nvSpPr>
        <p:spPr>
          <a:xfrm>
            <a:off x="7017308" y="3182899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891" indent="-342891">
              <a:lnSpc>
                <a:spcPts val="2851"/>
              </a:lnSpc>
              <a:buSzPct val="100000"/>
              <a:buChar char="•"/>
            </a:pPr>
            <a:r>
              <a:rPr lang="en-US" sz="175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LiDAR distance filtering</a:t>
            </a:r>
            <a:endParaRPr lang="en-US" sz="1751" dirty="0"/>
          </a:p>
        </p:txBody>
      </p:sp>
      <p:sp>
        <p:nvSpPr>
          <p:cNvPr id="9" name="Text 6"/>
          <p:cNvSpPr/>
          <p:nvPr/>
        </p:nvSpPr>
        <p:spPr>
          <a:xfrm>
            <a:off x="7017308" y="3625098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891" indent="-342891">
              <a:lnSpc>
                <a:spcPts val="2851"/>
              </a:lnSpc>
              <a:buSzPct val="100000"/>
              <a:buChar char="•"/>
            </a:pPr>
            <a:r>
              <a:rPr lang="en-US" sz="175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MAVLink commands for flight control</a:t>
            </a:r>
            <a:endParaRPr lang="en-US" sz="1751" dirty="0"/>
          </a:p>
        </p:txBody>
      </p:sp>
      <p:sp>
        <p:nvSpPr>
          <p:cNvPr id="10" name="Text 7"/>
          <p:cNvSpPr/>
          <p:nvPr/>
        </p:nvSpPr>
        <p:spPr>
          <a:xfrm>
            <a:off x="7017308" y="4067295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891" indent="-342891">
              <a:lnSpc>
                <a:spcPts val="2851"/>
              </a:lnSpc>
              <a:buSzPct val="100000"/>
              <a:buChar char="•"/>
            </a:pPr>
            <a:r>
              <a:rPr lang="en-US" sz="175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Gesture classifier and logic</a:t>
            </a:r>
            <a:endParaRPr lang="en-US" sz="1751" dirty="0"/>
          </a:p>
        </p:txBody>
      </p:sp>
      <p:sp>
        <p:nvSpPr>
          <p:cNvPr id="11" name="Shape 8"/>
          <p:cNvSpPr/>
          <p:nvPr/>
        </p:nvSpPr>
        <p:spPr>
          <a:xfrm>
            <a:off x="6280190" y="4883826"/>
            <a:ext cx="510303" cy="510303"/>
          </a:xfrm>
          <a:prstGeom prst="roundRect">
            <a:avLst>
              <a:gd name="adj" fmla="val 18669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356747" y="4915734"/>
            <a:ext cx="357188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800"/>
              </a:lnSpc>
            </a:pPr>
            <a:r>
              <a:rPr lang="en-US" sz="28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7017307" y="4961693"/>
            <a:ext cx="2977039" cy="372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Testing Approach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7017308" y="5469851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891" indent="-342891">
              <a:lnSpc>
                <a:spcPts val="2851"/>
              </a:lnSpc>
              <a:buSzPct val="100000"/>
              <a:buChar char="•"/>
            </a:pPr>
            <a:r>
              <a:rPr lang="en-US" sz="175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Camera resolution and lighting tests</a:t>
            </a:r>
            <a:endParaRPr lang="en-US" sz="1751" dirty="0"/>
          </a:p>
        </p:txBody>
      </p:sp>
      <p:sp>
        <p:nvSpPr>
          <p:cNvPr id="15" name="Text 12"/>
          <p:cNvSpPr/>
          <p:nvPr/>
        </p:nvSpPr>
        <p:spPr>
          <a:xfrm>
            <a:off x="7017308" y="5912050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891" indent="-342891">
              <a:lnSpc>
                <a:spcPts val="2851"/>
              </a:lnSpc>
              <a:buSzPct val="100000"/>
              <a:buChar char="•"/>
            </a:pPr>
            <a:r>
              <a:rPr lang="en-US" sz="175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LiDAR distance and material tests</a:t>
            </a:r>
            <a:endParaRPr lang="en-US" sz="1751" dirty="0"/>
          </a:p>
        </p:txBody>
      </p:sp>
      <p:sp>
        <p:nvSpPr>
          <p:cNvPr id="16" name="Text 13"/>
          <p:cNvSpPr/>
          <p:nvPr/>
        </p:nvSpPr>
        <p:spPr>
          <a:xfrm>
            <a:off x="7017308" y="6354249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891" indent="-342891">
              <a:lnSpc>
                <a:spcPts val="2851"/>
              </a:lnSpc>
              <a:buSzPct val="100000"/>
              <a:buChar char="•"/>
            </a:pPr>
            <a:r>
              <a:rPr lang="en-US" sz="175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MAVLink command debugging</a:t>
            </a:r>
            <a:endParaRPr lang="en-US" sz="1751" dirty="0"/>
          </a:p>
        </p:txBody>
      </p:sp>
      <p:sp>
        <p:nvSpPr>
          <p:cNvPr id="17" name="Text 14"/>
          <p:cNvSpPr/>
          <p:nvPr/>
        </p:nvSpPr>
        <p:spPr>
          <a:xfrm>
            <a:off x="7017308" y="6796446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891" indent="-342891">
              <a:lnSpc>
                <a:spcPts val="2851"/>
              </a:lnSpc>
              <a:buSzPct val="100000"/>
              <a:buChar char="•"/>
            </a:pPr>
            <a:r>
              <a:rPr lang="en-US" sz="175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Gesture accuracy validation</a:t>
            </a:r>
            <a:endParaRPr lang="en-US" sz="175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1" y="2400897"/>
            <a:ext cx="75564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851"/>
              </a:lnSpc>
            </a:pPr>
            <a:r>
              <a:rPr lang="en-US" sz="4651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Overcoming Orange Pi 5 Overheating</a:t>
            </a:r>
            <a:endParaRPr lang="en-US" sz="4651" dirty="0"/>
          </a:p>
        </p:txBody>
      </p:sp>
      <p:sp>
        <p:nvSpPr>
          <p:cNvPr id="4" name="Text 1"/>
          <p:cNvSpPr/>
          <p:nvPr/>
        </p:nvSpPr>
        <p:spPr>
          <a:xfrm>
            <a:off x="793791" y="422957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1"/>
              </a:lnSpc>
            </a:pPr>
            <a:r>
              <a:rPr lang="en-US" sz="1751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Problem:</a:t>
            </a:r>
            <a:r>
              <a:rPr lang="en-US" sz="175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Overheating during AI model inference</a:t>
            </a:r>
            <a:endParaRPr lang="en-US" sz="1751" dirty="0"/>
          </a:p>
        </p:txBody>
      </p:sp>
      <p:sp>
        <p:nvSpPr>
          <p:cNvPr id="5" name="Text 2"/>
          <p:cNvSpPr/>
          <p:nvPr/>
        </p:nvSpPr>
        <p:spPr>
          <a:xfrm>
            <a:off x="793791" y="484763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1"/>
              </a:lnSpc>
            </a:pPr>
            <a:r>
              <a:rPr lang="en-US" sz="1751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Solution:</a:t>
            </a:r>
            <a:r>
              <a:rPr lang="en-US" sz="175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Installed heatsink and USB fan for thermal control</a:t>
            </a:r>
            <a:endParaRPr lang="en-US" sz="1751" dirty="0"/>
          </a:p>
        </p:txBody>
      </p:sp>
      <p:sp>
        <p:nvSpPr>
          <p:cNvPr id="6" name="Text 3"/>
          <p:cNvSpPr/>
          <p:nvPr/>
        </p:nvSpPr>
        <p:spPr>
          <a:xfrm>
            <a:off x="793791" y="546568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1"/>
              </a:lnSpc>
            </a:pPr>
            <a:r>
              <a:rPr lang="en-US" sz="175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step for stable embedded AI performance under load</a:t>
            </a:r>
            <a:endParaRPr lang="en-US" sz="175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745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6877" y="563167"/>
            <a:ext cx="7710249" cy="134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251"/>
              </a:lnSpc>
            </a:pPr>
            <a:r>
              <a:rPr lang="en-US" sz="42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Intelligent Drone Feature Overview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716877" y="2214563"/>
            <a:ext cx="7710249" cy="1211343"/>
          </a:xfrm>
          <a:prstGeom prst="roundRect">
            <a:avLst>
              <a:gd name="adj" fmla="val 7102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29283" y="2426969"/>
            <a:ext cx="2688312" cy="335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00"/>
              </a:lnSpc>
            </a:pPr>
            <a:r>
              <a:rPr lang="en-US" sz="21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Visual Tracking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929283" y="2885838"/>
            <a:ext cx="7285435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51"/>
              </a:lnSpc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Drone autonomously tracks objects in real-time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16877" y="3630693"/>
            <a:ext cx="7710249" cy="1211343"/>
          </a:xfrm>
          <a:prstGeom prst="roundRect">
            <a:avLst>
              <a:gd name="adj" fmla="val 7102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29283" y="3843099"/>
            <a:ext cx="2688312" cy="335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00"/>
              </a:lnSpc>
            </a:pPr>
            <a:r>
              <a:rPr lang="en-US" sz="21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Obstacle Avoidance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929283" y="4301967"/>
            <a:ext cx="7285435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51"/>
              </a:lnSpc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Detects and navigates around obstacles safely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16877" y="5046822"/>
            <a:ext cx="7710249" cy="1211343"/>
          </a:xfrm>
          <a:prstGeom prst="roundRect">
            <a:avLst>
              <a:gd name="adj" fmla="val 7102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29283" y="5259229"/>
            <a:ext cx="2688312" cy="335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00"/>
              </a:lnSpc>
            </a:pPr>
            <a:r>
              <a:rPr lang="en-US" sz="21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Gesture Recognition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929283" y="5718097"/>
            <a:ext cx="7285435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51"/>
              </a:lnSpc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Interprets user hand motions for control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16877" y="6462951"/>
            <a:ext cx="7710249" cy="1211343"/>
          </a:xfrm>
          <a:prstGeom prst="roundRect">
            <a:avLst>
              <a:gd name="adj" fmla="val 7102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29283" y="6675357"/>
            <a:ext cx="2688312" cy="335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00"/>
              </a:lnSpc>
            </a:pPr>
            <a:r>
              <a:rPr lang="en-US" sz="21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Voice Commands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929283" y="7134226"/>
            <a:ext cx="7285435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51"/>
              </a:lnSpc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pending implementation and testing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2" y="1415415"/>
            <a:ext cx="9545241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851"/>
              </a:lnSpc>
            </a:pPr>
            <a:r>
              <a:rPr lang="en-US" sz="4651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Future Enhancements for Drone AI</a:t>
            </a:r>
            <a:endParaRPr lang="en-US" sz="4651" dirty="0"/>
          </a:p>
        </p:txBody>
      </p:sp>
      <p:sp>
        <p:nvSpPr>
          <p:cNvPr id="3" name="Shape 1"/>
          <p:cNvSpPr/>
          <p:nvPr/>
        </p:nvSpPr>
        <p:spPr>
          <a:xfrm>
            <a:off x="793791" y="2613305"/>
            <a:ext cx="2173724" cy="1324689"/>
          </a:xfrm>
          <a:prstGeom prst="roundRect">
            <a:avLst>
              <a:gd name="adj" fmla="val 7192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721167" y="3076338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4000"/>
              </a:lnSpc>
            </a:pPr>
            <a:r>
              <a:rPr lang="en-US" sz="25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194330" y="2840118"/>
            <a:ext cx="2977039" cy="372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Voice Control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3194328" y="3348278"/>
            <a:ext cx="60278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1"/>
              </a:lnSpc>
            </a:pPr>
            <a:r>
              <a:rPr lang="en-US" sz="175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ReSpeaker Mic Array and speech recognition</a:t>
            </a:r>
            <a:endParaRPr lang="en-US" sz="1751" dirty="0"/>
          </a:p>
        </p:txBody>
      </p:sp>
      <p:sp>
        <p:nvSpPr>
          <p:cNvPr id="7" name="Shape 5"/>
          <p:cNvSpPr/>
          <p:nvPr/>
        </p:nvSpPr>
        <p:spPr>
          <a:xfrm>
            <a:off x="3080861" y="3922752"/>
            <a:ext cx="10642403" cy="15240"/>
          </a:xfrm>
          <a:prstGeom prst="roundRect">
            <a:avLst>
              <a:gd name="adj" fmla="val 625116"/>
            </a:avLst>
          </a:prstGeom>
          <a:solidFill>
            <a:srgbClr val="4836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93791" y="4051341"/>
            <a:ext cx="4347567" cy="1324689"/>
          </a:xfrm>
          <a:prstGeom prst="roundRect">
            <a:avLst>
              <a:gd name="adj" fmla="val 7192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808089" y="4514375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4000"/>
              </a:lnSpc>
            </a:pPr>
            <a:r>
              <a:rPr lang="en-US" sz="25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5368171" y="4278154"/>
            <a:ext cx="4186715" cy="372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Advanced Gesture Recognition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5368173" y="4786314"/>
            <a:ext cx="43089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1"/>
              </a:lnSpc>
            </a:pPr>
            <a:r>
              <a:rPr lang="en-US" sz="175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deep learning for higher accuracy</a:t>
            </a:r>
            <a:endParaRPr lang="en-US" sz="1751" dirty="0"/>
          </a:p>
        </p:txBody>
      </p:sp>
      <p:sp>
        <p:nvSpPr>
          <p:cNvPr id="12" name="Shape 10"/>
          <p:cNvSpPr/>
          <p:nvPr/>
        </p:nvSpPr>
        <p:spPr>
          <a:xfrm>
            <a:off x="5254705" y="5360789"/>
            <a:ext cx="8468559" cy="15240"/>
          </a:xfrm>
          <a:prstGeom prst="roundRect">
            <a:avLst>
              <a:gd name="adj" fmla="val 625116"/>
            </a:avLst>
          </a:prstGeom>
          <a:solidFill>
            <a:srgbClr val="4836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93789" y="5489378"/>
            <a:ext cx="6521411" cy="1324689"/>
          </a:xfrm>
          <a:prstGeom prst="roundRect">
            <a:avLst>
              <a:gd name="adj" fmla="val 7192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95011" y="5952412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4000"/>
              </a:lnSpc>
            </a:pPr>
            <a:r>
              <a:rPr lang="en-US" sz="25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7542015" y="5716191"/>
            <a:ext cx="2977039" cy="372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SLAM Integration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7542016" y="6224350"/>
            <a:ext cx="465522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1"/>
              </a:lnSpc>
            </a:pPr>
            <a:r>
              <a:rPr lang="en-US" sz="175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simultaneous localization and mapping</a:t>
            </a:r>
            <a:endParaRPr lang="en-US" sz="175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1" y="1847851"/>
            <a:ext cx="7408069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851"/>
              </a:lnSpc>
            </a:pPr>
            <a:r>
              <a:rPr lang="en-US" sz="4651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Learnings from Project</a:t>
            </a:r>
            <a:endParaRPr lang="en-US" sz="4651" dirty="0"/>
          </a:p>
        </p:txBody>
      </p:sp>
      <p:sp>
        <p:nvSpPr>
          <p:cNvPr id="4" name="Shape 1"/>
          <p:cNvSpPr/>
          <p:nvPr/>
        </p:nvSpPr>
        <p:spPr>
          <a:xfrm>
            <a:off x="6280190" y="2932271"/>
            <a:ext cx="510303" cy="510303"/>
          </a:xfrm>
          <a:prstGeom prst="roundRect">
            <a:avLst>
              <a:gd name="adj" fmla="val 18669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7017305" y="3010139"/>
            <a:ext cx="2899411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Real-time AI on Embedded Systems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7017305" y="3890367"/>
            <a:ext cx="289941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1"/>
              </a:lnSpc>
            </a:pPr>
            <a:r>
              <a:rPr lang="en-US" sz="175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Hands-on experience combining AI and hardware</a:t>
            </a:r>
            <a:endParaRPr lang="en-US" sz="1751" dirty="0"/>
          </a:p>
        </p:txBody>
      </p:sp>
      <p:sp>
        <p:nvSpPr>
          <p:cNvPr id="7" name="Shape 4"/>
          <p:cNvSpPr/>
          <p:nvPr/>
        </p:nvSpPr>
        <p:spPr>
          <a:xfrm>
            <a:off x="10200203" y="2932271"/>
            <a:ext cx="510303" cy="510303"/>
          </a:xfrm>
          <a:prstGeom prst="roundRect">
            <a:avLst>
              <a:gd name="adj" fmla="val 18669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0937319" y="3010139"/>
            <a:ext cx="2899411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Sensor and Protocol Integration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10937319" y="3890367"/>
            <a:ext cx="289941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1"/>
              </a:lnSpc>
            </a:pPr>
            <a:r>
              <a:rPr lang="en-US" sz="175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sensors and communications merged effectively</a:t>
            </a:r>
            <a:endParaRPr lang="en-US" sz="1751" dirty="0"/>
          </a:p>
        </p:txBody>
      </p:sp>
      <p:sp>
        <p:nvSpPr>
          <p:cNvPr id="10" name="Shape 7"/>
          <p:cNvSpPr/>
          <p:nvPr/>
        </p:nvSpPr>
        <p:spPr>
          <a:xfrm>
            <a:off x="6280190" y="5432703"/>
            <a:ext cx="510303" cy="510303"/>
          </a:xfrm>
          <a:prstGeom prst="roundRect">
            <a:avLst>
              <a:gd name="adj" fmla="val 18669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017308" y="5510570"/>
            <a:ext cx="4501753" cy="372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Debugging &amp; Team Collaboration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7017308" y="6018730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1"/>
              </a:lnSpc>
            </a:pPr>
            <a:r>
              <a:rPr lang="en-US" sz="175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Strengthened skills in co-development and testing</a:t>
            </a:r>
            <a:endParaRPr lang="en-US" sz="175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382</Words>
  <Application>Microsoft Office PowerPoint</Application>
  <PresentationFormat>Custom</PresentationFormat>
  <Paragraphs>99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Inter</vt:lpstr>
      <vt:lpstr>Arial</vt:lpstr>
      <vt:lpstr>Petrona Bold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Sai Chowdary</cp:lastModifiedBy>
  <cp:revision>5</cp:revision>
  <dcterms:created xsi:type="dcterms:W3CDTF">2025-05-03T02:34:06Z</dcterms:created>
  <dcterms:modified xsi:type="dcterms:W3CDTF">2025-05-03T03:04:03Z</dcterms:modified>
</cp:coreProperties>
</file>